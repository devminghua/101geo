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486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6D5CFF"/>
                </a:solidFill>
                <a:latin typeface="Microsoft YaHei"/>
                <a:ea typeface="Microsoft YaHei"/>
              </a:rPr>
              <a:t>Geo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>
                <a:solidFill>
                  <a:srgbClr val="FFFFFF"/>
                </a:solidFill>
                <a:latin typeface="Microsoft YaHei"/>
                <a:ea typeface="Microsoft YaHei"/>
              </a:rPr>
              <a:t>LinkGeo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6D5CFF"/>
                </a:solidFill>
                <a:latin typeface="Microsoft YaHei"/>
                <a:ea typeface="Microsoft YaHei"/>
              </a:rPr>
              <a:t>生成式引擎优化平台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8A8F9A"/>
                </a:solidFill>
                <a:latin typeface="Microsoft YaHei"/>
                <a:ea typeface="Microsoft YaHei"/>
              </a:rPr>
              <a:t>让品牌在 AI 搜索时代被看见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0"/>
            <a:ext cx="1463040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GEO 诊断 · 多平台监测 · 同行分析 · 截流获客 · 智能创作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行业背景：AI 搜索正在取代传统搜索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01 / 背景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800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大模型爆发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DeepSeek、Kimi、豆包、通义、智谱 GLM 等国产大模型迅速普及，用户提问方式彻底改变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0048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70048"/>
            <a:ext cx="50800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从搜到问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用户不再「搜关键词」，而是直接「问 AI」，答案由大模型直接生成，传统搜索引擎流量被分流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68496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68496"/>
            <a:ext cx="50800" cy="11430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SEO 规则失效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9028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传统 SEO 优化的是搜索结果页排名，而 AI 的回答没有固定的排名规则，新战场已经出现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66944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266944"/>
            <a:ext cx="50800" cy="1143000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431536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GEO 成为新战场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88873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谁的内容被 AI 大模型频繁引用和推荐，谁就赢得 AI 时代的客户心智与流量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什么是 GEO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02 / 概念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1554480"/>
          </a:xfrm>
          <a:prstGeom prst="roundRect">
            <a:avLst>
              <a:gd name="adj" fmla="val 6000"/>
            </a:avLst>
          </a:prstGeom>
          <a:solidFill>
            <a:srgbClr val="1D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GEO = Generative Engine Optimization（生成式引擎优化）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C9CDD6"/>
                </a:solidFill>
                <a:latin typeface="Microsoft YaHei"/>
                <a:ea typeface="Microsoft YaHei"/>
              </a:rPr>
              <a:t>通过优化品牌的内容策略，让 AI 大模型在回答用户问题时，优先推荐、引用你的品牌。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传统 SEO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优化搜索引擎结果页排名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关键词匹配 · 网页收录 · 外链权重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目标：让用户在搜索结果里找到你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9184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GEO（LinkGeo）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优化 AI 大模型的回答推荐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多平台监测 · 内容优化 · 持续迭代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目标：让 AI 在回答里提到你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LinkGeo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03 / 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3333A"/>
                </a:solidFill>
                <a:latin typeface="Microsoft YaHei"/>
                <a:ea typeface="Microsoft YaHei"/>
              </a:rPr>
              <a:t>一站式 GEO 诊断与优化平台，让 AI 搜索时代的品牌增长可量化、可管理、可提升。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65960" y="2743200"/>
            <a:ext cx="960120" cy="9601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788920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1D2129"/>
                </a:solidFill>
                <a:latin typeface="Microsoft YaHei"/>
                <a:ea typeface="Microsoft YaHei"/>
              </a:rPr>
              <a:t>看得见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348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多平台 AI 排名实时监测，品牌在各大模型中的曝光一目了然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46888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23560" y="2743200"/>
            <a:ext cx="960120" cy="9601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788920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319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1D2129"/>
                </a:solidFill>
                <a:latin typeface="Microsoft YaHei"/>
                <a:ea typeface="Microsoft YaHei"/>
              </a:rPr>
              <a:t>管得住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4348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关键词、内容、投放统一管理，多租户隔离，团队协作更高效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46888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0" y="2743200"/>
            <a:ext cx="960120" cy="9601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788920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9319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1D2129"/>
                </a:solidFill>
                <a:latin typeface="Microsoft YaHei"/>
                <a:ea typeface="Microsoft YaHei"/>
              </a:rPr>
              <a:t>提得升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4348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AI 智能创作 + 数据报告，让优化动作有依据、见效快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核心功能总览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04 / 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00200"/>
            <a:ext cx="63500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819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GEO 诊断仪表盘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覆盖率、出现率、趋势一屏掌握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00200"/>
            <a:ext cx="63500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5819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多平台 AI 监测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0574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DeepSeek/豆包/Kimi/通义/智谱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173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00200"/>
            <a:ext cx="63500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819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关键词监控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批量导入、分类、排名追踪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4173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600200"/>
            <a:ext cx="63500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5819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巡检任务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0574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定时自动巡检，全天候监测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0175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200400"/>
            <a:ext cx="63500" cy="411480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1821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生成报告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576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可视化报告 + 平台对比 + 建议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0175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11880" y="3200400"/>
            <a:ext cx="63500" cy="411480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31821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智能创作中心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6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AI 生成文章/文案/图片/脚本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0175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200400"/>
            <a:ext cx="63500" cy="411480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1821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百度爬虫同行分析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6576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爬取竞品、竞争品牌数据对比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0175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06840" y="3200400"/>
            <a:ext cx="63500" cy="411480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1821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截流获客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36576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小红书 + 抖音 + 自动打招呼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6177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4800600"/>
            <a:ext cx="6350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7823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GEO 独门独户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2578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拒绝数据源污染，效率拉满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9000" y="461772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11880" y="4800600"/>
            <a:ext cx="63500" cy="41148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478231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2129"/>
                </a:solidFill>
                <a:latin typeface="Microsoft YaHei"/>
                <a:ea typeface="Microsoft YaHei"/>
              </a:rPr>
              <a:t>计费与授权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60" y="525780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8F9A"/>
                </a:solidFill>
                <a:latin typeface="Microsoft YaHei"/>
                <a:ea typeface="Microsoft YaHei"/>
              </a:rPr>
              <a:t>Token 计费 · 扫码充值 · 卡密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GEO 诊断仪表盘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05 / 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一屏看清品牌在 AI 搜索中的真实表现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4F46E5"/>
                </a:solidFill>
                <a:latin typeface="Microsoft YaHei"/>
                <a:ea typeface="Microsoft YaHei"/>
              </a:rPr>
              <a:t>覆盖率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被 AI 推荐的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关键词占比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0B981"/>
                </a:solidFill>
                <a:latin typeface="Microsoft YaHei"/>
                <a:ea typeface="Microsoft YaHei"/>
              </a:rPr>
              <a:t>出现率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在 AI 回答中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的曝光频率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7D00"/>
                </a:solidFill>
                <a:latin typeface="Microsoft YaHei"/>
                <a:ea typeface="Microsoft YaHei"/>
              </a:rPr>
              <a:t>趋势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排名变化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走势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3333A"/>
                </a:solidFill>
                <a:latin typeface="Microsoft YaHei"/>
                <a:ea typeface="Microsoft YaHei"/>
              </a:rPr>
              <a:t>可视化图表 + 平台对比表，实时追踪每个关键词在各大模型中的排名位置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· 平台维度对比：哪个模型更容易推荐你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· 关键词维度下钻：哪些词已上榜、哪些词待优化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· 时间趋势：优化动作是否起效，一目了然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· 最佳位置定位：精确到「第几句、第几条」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多平台 AI 监测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06 / 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一次检测，覆盖主流 AI 大模型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2011680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DeepSeek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55448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554480"/>
            <a:ext cx="2011680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豆包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55448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554480"/>
            <a:ext cx="2011680" cy="164592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Kimi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55448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8040" y="1554480"/>
            <a:ext cx="2011680" cy="164592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通义千问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55448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554480"/>
            <a:ext cx="2011680" cy="164592"/>
          </a:xfrm>
          <a:prstGeom prst="rect">
            <a:avLst/>
          </a:prstGeom>
          <a:solidFill>
            <a:srgbClr val="23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82880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智谱 GLM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3333A"/>
                </a:solidFill>
                <a:latin typeface="Microsoft YaHei"/>
                <a:ea typeface="Microsoft YaHei"/>
              </a:rPr>
              <a:t>覆盖主流国产大模型，兼容 OpenAI 兼容接口，可扩展接入更多平台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· 同一批关键词，自动并行向多个模型提问，检测品牌是否被提及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· 精准定位排名：出现在第几条、第几句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· 支持自定义 Base URL / API Key / 模型，按需扩展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· 平台限流自动退避，稳定可靠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关键词监控 + 定时巡检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07 / 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关键词批量管理，巡检自动化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0800" cy="2194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2763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关键词管理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2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批量导入 · 分类管理 · 启停控制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围绕品牌、产品、行业痛点词建立词库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0800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定时自动巡检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84832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60 分钟自动巡检（8-22 点）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排名变化实时追踪，历史趋势可回溯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0800" cy="219456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9651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排名变化追踪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2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每次巡检记录排名快照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新上榜、掉榜、位置变化自动呈现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0800" cy="2194560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9651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多租户隔离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53712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每个分站独立词库与数据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数据隐私隔离，互不可见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生成报告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08 / 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把监测数据变成可执行的优化决策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3333A"/>
                </a:solidFill>
                <a:latin typeface="Microsoft YaHei"/>
                <a:ea typeface="Microsoft YaHei"/>
              </a:rPr>
              <a:t>一键生成专业 GEO 分析报告，让优化成果可交付、可汇报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6984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46E5"/>
                </a:solidFill>
                <a:latin typeface="Microsoft YaHei"/>
                <a:ea typeface="Microsoft YaHei"/>
              </a:rPr>
              <a:t>平台表现对比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331720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哪些模型更容易推荐你，重点投放阵地一目了然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06984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1071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46E5"/>
                </a:solidFill>
                <a:latin typeface="Microsoft YaHei"/>
                <a:ea typeface="Microsoft YaHei"/>
              </a:rPr>
              <a:t>关键词上榜分析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410712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上榜词 / 待优化词 / 竞品占据词，逐类拆解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52544"/>
            <a:ext cx="106984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89704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46E5"/>
                </a:solidFill>
                <a:latin typeface="Microsoft YaHei"/>
                <a:ea typeface="Microsoft YaHei"/>
              </a:rPr>
              <a:t>趋势与建议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489704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结合数据给出可落地的优化建议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31536"/>
            <a:ext cx="106984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68696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46E5"/>
                </a:solidFill>
                <a:latin typeface="Microsoft YaHei"/>
                <a:ea typeface="Microsoft YaHei"/>
              </a:rPr>
              <a:t>一键导出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568696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支持导出报告，方便对外汇报与存档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智能创作中心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09 / 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AI 助力内容生产，效率倍增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50800" cy="1600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1907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文章生成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品牌软文、行业科普、产品介绍一键生成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0800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文案创作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76272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营销文案、开场话术、朋友圈文案批量产出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29000"/>
            <a:ext cx="50800" cy="1600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9359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图片生成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50792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AI 配图、海报素材，视觉内容不再求人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50800" cy="1600200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9359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短视频脚本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50792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口播脚本、分镜脚本，短视频创作提效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百度爬虫 · 同行与竞争品牌分析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10 / 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不止看自己，更要看清对手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0800" cy="2286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2763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全网同行爬取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2"/>
            <a:ext cx="48006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自动爬取同行站点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识别竞争品牌，摸清行业格局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2578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0800" cy="22860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竞争品牌数据分析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84832"/>
            <a:ext cx="48006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竞品关键词覆盖、排名对比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谁占了你的词，一目了然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2578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77639"/>
            <a:ext cx="50800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42231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竞品占据词识别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99431"/>
            <a:ext cx="48006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自动识别竞品占据的关键词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精准锁定反击与差异化机会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77639"/>
            <a:ext cx="52578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977639"/>
            <a:ext cx="50800" cy="2286000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42231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差异化定位建议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99431"/>
            <a:ext cx="48006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基于竞争数据制定优化策略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避开红海，抢占空白词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截流获客 · 小红书 + 抖音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11 / 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主动出击，把流量变成客户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0800" cy="2743200"/>
          </a:xfrm>
          <a:prstGeom prst="rect">
            <a:avLst/>
          </a:prstGeom>
          <a:solidFill>
            <a:srgbClr val="FF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276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小红书截流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2"/>
            <a:ext cx="2971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AI 开场话术生成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精准触达目标客户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高转化内容策略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50800" cy="2743200"/>
          </a:xfrm>
          <a:prstGeom prst="rect">
            <a:avLst/>
          </a:prstGeom>
          <a:solidFill>
            <a:srgbClr val="23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276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抖音截流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84832"/>
            <a:ext cx="2971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流量趋势分析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对标账号洞察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内容方向建议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4630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463040"/>
            <a:ext cx="50800" cy="2743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6276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自动打招呼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084832"/>
            <a:ext cx="2971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批量自动打招呼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主动获客，不等人上门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转化全程可追踪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数据分析：流量趋势、转化效果、客户来源全程可追踪，投放 ROI 看得见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GEO 独门独户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12 / 卖点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拒绝数据源污染 · 效率拉满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D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独门独户：每家独立数据源，拒绝混用与污染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6D5CFF"/>
                </a:solidFill>
                <a:latin typeface="Microsoft YaHei"/>
                <a:ea typeface="Microsoft YaHei"/>
              </a:rPr>
              <a:t>数据源纯净 → 排名结果准确可靠 → 优化决策不打折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63240"/>
            <a:ext cx="50800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278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独立数据源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85032"/>
            <a:ext cx="2971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每户独立采集与存储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不混用第三方数据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结果干净可信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0632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3063240"/>
            <a:ext cx="50800" cy="2743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2278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拒绝数据源污染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85032"/>
            <a:ext cx="2971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严格隔离，杜绝交叉污染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数据准确率有保障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0632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3063240"/>
            <a:ext cx="50800" cy="2743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2278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效率拉满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685032"/>
            <a:ext cx="2971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一次检测多平台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60 分钟自动巡检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全天候无死角覆盖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产品界面一览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13 / 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GEO 诊断 · 多平台监测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37640"/>
            <a:ext cx="5628640" cy="28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577840" cy="280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115568"/>
            <a:ext cx="5577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8A8F9A"/>
                </a:solidFill>
                <a:latin typeface="Microsoft YaHei"/>
                <a:ea typeface="Microsoft YaHei"/>
              </a:rPr>
              <a:t>GEO 诊断仪表盘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520" y="1437640"/>
            <a:ext cx="5628640" cy="2879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577840" cy="28286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1115568"/>
            <a:ext cx="5577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8A8F9A"/>
                </a:solidFill>
                <a:latin typeface="Microsoft YaHei"/>
                <a:ea typeface="Microsoft YaHei"/>
              </a:rPr>
              <a:t>多平台 AI 监测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产品界面一览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14 / 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同行分析 · 关键词监控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37640"/>
            <a:ext cx="5628640" cy="351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577840" cy="3461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115568"/>
            <a:ext cx="5577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8A8F9A"/>
                </a:solidFill>
                <a:latin typeface="Microsoft YaHei"/>
                <a:ea typeface="Microsoft YaHei"/>
              </a:rPr>
              <a:t>同行 / 竞争品牌分析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520" y="1437640"/>
            <a:ext cx="5628640" cy="371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o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577840" cy="36648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1115568"/>
            <a:ext cx="5577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8A8F9A"/>
                </a:solidFill>
                <a:latin typeface="Microsoft YaHei"/>
                <a:ea typeface="Microsoft YaHei"/>
              </a:rPr>
              <a:t>关键词监控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三种部署形态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15 / 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灵活适配不同客户规模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429000" cy="6400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多租户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2788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33333A"/>
                </a:solidFill>
                <a:latin typeface="Microsoft YaHei"/>
                <a:ea typeface="Microsoft YaHei"/>
              </a:rPr>
              <a:t>总后台统一管理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33333A"/>
                </a:solidFill>
                <a:latin typeface="Microsoft YaHei"/>
                <a:ea typeface="Microsoft YaHei"/>
              </a:rPr>
              <a:t>多分站独立运营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33333A"/>
                </a:solidFill>
                <a:latin typeface="Microsoft YaHei"/>
                <a:ea typeface="Microsoft YaHei"/>
              </a:rPr>
              <a:t>数据租户隔离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9768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适合平台化运营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3429000" cy="6400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459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单机版客户端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68880"/>
            <a:ext cx="2788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33333A"/>
                </a:solidFill>
                <a:latin typeface="Microsoft YaHei"/>
                <a:ea typeface="Microsoft YaHei"/>
              </a:rPr>
              <a:t>Windows / Mac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33333A"/>
                </a:solidFill>
                <a:latin typeface="Microsoft YaHei"/>
                <a:ea typeface="Microsoft YaHei"/>
              </a:rPr>
              <a:t>本地一键部署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33333A"/>
                </a:solidFill>
                <a:latin typeface="Microsoft YaHei"/>
                <a:ea typeface="Microsoft YaHei"/>
              </a:rPr>
              <a:t>卡密授权激活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29768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适合单店/工作室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1554480"/>
            <a:ext cx="3429000" cy="6400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459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服务器版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468880"/>
            <a:ext cx="2788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33333A"/>
                </a:solidFill>
                <a:latin typeface="Microsoft YaHei"/>
                <a:ea typeface="Microsoft YaHei"/>
              </a:rPr>
              <a:t>独立服务器部署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33333A"/>
                </a:solidFill>
                <a:latin typeface="Microsoft YaHei"/>
                <a:ea typeface="Microsoft YaHei"/>
              </a:rPr>
              <a:t>systemd 开机自启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33333A"/>
                </a:solidFill>
                <a:latin typeface="Microsoft YaHei"/>
                <a:ea typeface="Microsoft YaHei"/>
              </a:rPr>
              <a:t>一键安装更新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29768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适合企业私有化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计费与授权体系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16 / 商业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灵活的 Token 计费与安全授权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0800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276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Token 计费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2"/>
            <a:ext cx="2971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AI 调用按次扣 Token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余额实时可见，明明白白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50800" cy="2743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276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双通道充值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84832"/>
            <a:ext cx="2971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扫码充值（微信/支付宝）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卡密兑换 Token，二选一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4630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463040"/>
            <a:ext cx="50800" cy="2743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627632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D2129"/>
                </a:solidFill>
                <a:latin typeface="Microsoft YaHei"/>
                <a:ea typeface="Microsoft YaHei"/>
              </a:rPr>
              <a:t>卡密授权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084832"/>
            <a:ext cx="2971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Ed25519 数字签名防伪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软件授权 + 充值卡密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8A8F9A"/>
                </a:solidFill>
                <a:latin typeface="Microsoft YaHei"/>
                <a:ea typeface="Microsoft YaHei"/>
              </a:rPr>
              <a:t>点卡管理由总后台统一发放与定价，分站自助充值，运营更省心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620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D2129"/>
                </a:solidFill>
                <a:latin typeface="Microsoft YaHei"/>
                <a:ea typeface="Microsoft YaHei"/>
              </a:rPr>
              <a:t>技术优势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>
                <a:solidFill>
                  <a:srgbClr val="8A8F9A"/>
                </a:solidFill>
                <a:latin typeface="Microsoft YaHei"/>
                <a:ea typeface="Microsoft YaHei"/>
              </a:rPr>
              <a:t>17 / 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A8F9A"/>
                </a:solidFill>
                <a:latin typeface="Microsoft YaHei"/>
                <a:ea typeface="Microsoft YaHei"/>
              </a:rPr>
              <a:t>安全、稳定、可信赖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50800" cy="1600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1907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数据安全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JWT 鉴权 + AES 加密存储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API Key、密码加密落库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防爆破、防 SQL 注入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0800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隐私隔离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76272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多租户数据严格隔离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联系人敏感信息不跨租户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角色权限精细管控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29000"/>
            <a:ext cx="50800" cy="1600200"/>
          </a:xfrm>
          <a:prstGeom prst="rect">
            <a:avLst/>
          </a:prstGeom>
          <a:solidFill>
            <a:srgbClr val="F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9359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稳定可靠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50792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单二进制部署，零依赖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数据库自动备份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崩溃自动重启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50800" cy="1600200"/>
          </a:xfrm>
          <a:prstGeom prst="rect">
            <a:avLst/>
          </a:prstGeom>
          <a:solidFill>
            <a:srgbClr val="6D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93592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D2129"/>
                </a:solidFill>
                <a:latin typeface="Microsoft YaHei"/>
                <a:ea typeface="Microsoft YaHei"/>
              </a:rPr>
              <a:t>多平台部署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50792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Windows / macOS / Linux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8A8F9A"/>
                </a:solidFill>
                <a:latin typeface="Microsoft YaHei"/>
                <a:ea typeface="Microsoft YaHei"/>
              </a:rPr>
              <a:t>SaaS / 单机 / 服务器版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LinkGeo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6D5CFF"/>
                </a:solidFill>
                <a:latin typeface="Microsoft YaHei"/>
                <a:ea typeface="Microsoft YaHei"/>
              </a:rPr>
              <a:t>生成式引擎优化平台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8A8F9A"/>
                </a:solidFill>
                <a:latin typeface="Microsoft YaHei"/>
                <a:ea typeface="Microsoft YaHei"/>
              </a:rPr>
              <a:t>让品牌在 AI 搜索时代被看见</a:t>
            </a:r>
          </a:p>
        </p:txBody>
      </p:sp>
      <p:sp>
        <p:nvSpPr>
          <p:cNvPr id="6" name="Rectangle 5"/>
          <p:cNvSpPr/>
          <p:nvPr/>
        </p:nvSpPr>
        <p:spPr>
          <a:xfrm>
            <a:off x="5550408" y="4846320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8A8F9A"/>
                </a:solidFill>
                <a:latin typeface="Microsoft YaHei"/>
                <a:ea typeface="Microsoft YaHei"/>
              </a:rPr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